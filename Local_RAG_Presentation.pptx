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5F7FA"/>
                </a:solidFill>
              </a:defRPr>
            </a:pPr>
            <a:r>
              <a:t>Local RAG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58A6FF"/>
                </a:solidFill>
              </a:defRPr>
            </a:pPr>
            <a:r>
              <a:t>Using Microsoft Foundry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9377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DD5DF"/>
                </a:solidFill>
              </a:defRPr>
            </a:pPr>
            <a:r>
              <a:t>Shahd Srour · University of Reading · Accounting &amp;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  <a:r>
              <a:t>• LLMs do not automatically know private documents.</a:t>
            </a:r>
          </a:p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  <a:r>
              <a:t>• They can answer incorrectly when the answer is not in their context.</a:t>
            </a:r>
          </a:p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  <a:r>
              <a:t>• A local project needs answers grounded in local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1508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Private files</a:t>
            </a: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→ Unknown to model</a:t>
            </a: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RAG</a:t>
            </a: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→ Retrieves context 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A"/>
                </a:solidFill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  <a:r>
              <a:t>RAG means Retrieval-Augmented Generation.</a:t>
            </a:r>
          </a:p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</a:p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  <a:r>
              <a:t>Retrieval: search the local knowledge base.</a:t>
            </a:r>
          </a:p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</a:p>
          <a:p>
            <a:pPr>
              <a:spcAft>
                <a:spcPts val="900"/>
              </a:spcAft>
              <a:defRPr sz="2500">
                <a:solidFill>
                  <a:srgbClr val="CDD5DF"/>
                </a:solidFill>
              </a:defRPr>
            </a:pPr>
            <a:r>
              <a:t>Augmented generation: give the retrieved text to the model before it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0" y="13258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200">
                <a:solidFill>
                  <a:srgbClr val="CDD5DF"/>
                </a:solidFill>
              </a:defRPr>
            </a:pPr>
            <a:r>
              <a:t>Question</a:t>
            </a:r>
          </a:p>
          <a:p>
            <a:pPr>
              <a:spcAft>
                <a:spcPts val="900"/>
              </a:spcAft>
              <a:defRPr sz="32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3200">
                <a:solidFill>
                  <a:srgbClr val="CDD5DF"/>
                </a:solidFill>
              </a:defRPr>
            </a:pPr>
            <a:r>
              <a:t>Relevant document chunks</a:t>
            </a:r>
          </a:p>
          <a:p>
            <a:pPr>
              <a:spcAft>
                <a:spcPts val="900"/>
              </a:spcAft>
              <a:defRPr sz="32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3200">
                <a:solidFill>
                  <a:srgbClr val="CDD5DF"/>
                </a:solidFill>
              </a:defRPr>
            </a:pPr>
            <a:r>
              <a:t>Local model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A"/>
                </a:solidFill>
              </a:defRPr>
            </a:pPr>
            <a: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97280"/>
            <a:ext cx="4846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Documents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Chunking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Embeddings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Cosine similarity search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Retrieved context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800">
                <a:solidFill>
                  <a:srgbClr val="CDD5DF"/>
                </a:solidFill>
              </a:defRPr>
            </a:pPr>
            <a:r>
              <a:t>Local LLM answer +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>
                <a:solidFill>
                  <a:srgbClr val="CDD5DF"/>
                </a:solidFill>
              </a:defRPr>
            </a:pPr>
            <a:r>
              <a:t>The important idea: the model answers using retrieved text, not only its training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A"/>
                </a:solidFill>
              </a:defRPr>
            </a:pPr>
            <a:r>
              <a:t>Demo</a:t>
            </a:r>
          </a:p>
        </p:txBody>
      </p:sp>
      <p:pic>
        <p:nvPicPr>
          <p:cNvPr id="3" name="Picture 2" descr="demo_terminal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492240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2360" y="12344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CDD5DF"/>
                </a:solidFill>
              </a:defRPr>
            </a:pPr>
            <a:r>
              <a:t>Demo steps:</a:t>
            </a:r>
          </a:p>
          <a:p>
            <a:pPr>
              <a:spcAft>
                <a:spcPts val="900"/>
              </a:spcAft>
              <a:defRPr sz="2300">
                <a:solidFill>
                  <a:srgbClr val="CDD5DF"/>
                </a:solidFill>
              </a:defRPr>
            </a:pPr>
            <a:r>
              <a:t>• Run the Python app</a:t>
            </a:r>
          </a:p>
          <a:p>
            <a:pPr>
              <a:spcAft>
                <a:spcPts val="900"/>
              </a:spcAft>
              <a:defRPr sz="2300">
                <a:solidFill>
                  <a:srgbClr val="CDD5DF"/>
                </a:solidFill>
              </a:defRPr>
            </a:pPr>
            <a:r>
              <a:t>• Ask a document question</a:t>
            </a:r>
          </a:p>
          <a:p>
            <a:pPr>
              <a:spcAft>
                <a:spcPts val="900"/>
              </a:spcAft>
              <a:defRPr sz="2300">
                <a:solidFill>
                  <a:srgbClr val="CDD5DF"/>
                </a:solidFill>
              </a:defRPr>
            </a:pPr>
            <a:r>
              <a:t>• Retrieve relevant chunks</a:t>
            </a:r>
          </a:p>
          <a:p>
            <a:pPr>
              <a:spcAft>
                <a:spcPts val="900"/>
              </a:spcAft>
              <a:defRPr sz="2300">
                <a:solidFill>
                  <a:srgbClr val="CDD5DF"/>
                </a:solidFill>
              </a:defRPr>
            </a:pPr>
            <a:r>
              <a:t>• Generate an answer</a:t>
            </a:r>
          </a:p>
          <a:p>
            <a:pPr>
              <a:spcAft>
                <a:spcPts val="900"/>
              </a:spcAft>
              <a:defRPr sz="2300">
                <a:solidFill>
                  <a:srgbClr val="CDD5DF"/>
                </a:solidFill>
              </a:defRPr>
            </a:pPr>
            <a:r>
              <a:t>• Show the source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  <a:r>
              <a:t>This project shows how local AI can answer questions using private documents.</a:t>
            </a:r>
          </a:p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</a:p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  <a:r>
              <a:t>Future improvements:</a:t>
            </a:r>
          </a:p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  <a:r>
              <a:t>• Graphical user interface</a:t>
            </a:r>
          </a:p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  <a:r>
              <a:t>• More file types</a:t>
            </a:r>
          </a:p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  <a:r>
              <a:t>• Vector database</a:t>
            </a:r>
          </a:p>
          <a:p>
            <a:pPr>
              <a:spcAft>
                <a:spcPts val="900"/>
              </a:spcAft>
              <a:defRPr sz="2600">
                <a:solidFill>
                  <a:srgbClr val="CDD5DF"/>
                </a:solidFill>
              </a:defRPr>
            </a:pPr>
            <a:r>
              <a:t>• Conversation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5087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Local data</a:t>
            </a: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+ Retrieval</a:t>
            </a: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+ Local model</a:t>
            </a:r>
          </a:p>
          <a:p>
            <a:pPr>
              <a:spcAft>
                <a:spcPts val="900"/>
              </a:spcAft>
              <a:defRPr sz="3100">
                <a:solidFill>
                  <a:srgbClr val="CDD5DF"/>
                </a:solidFill>
              </a:defRPr>
            </a:pPr>
            <a:r>
              <a:t>= Grounded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